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19" Type="http://schemas.openxmlformats.org/officeDocument/2006/relationships/font" Target="fonts/ProximaNova-boldItalic.fntdata"/><Relationship Id="rId18" Type="http://schemas.openxmlformats.org/officeDocument/2006/relationships/font" Target="fonts/ProximaNov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d3b96bc9a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d3b96bc9a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02bfb997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02bfb997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02bfb997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e02bfb997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7bb7986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7bb7986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3b96bc9a5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3b96bc9a5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3b96bc9a5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3b96bc9a5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02bfb997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e02bfb997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3b96bc9a5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3b96bc9a5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e02bfb997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e02bfb997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d7bb7986c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d7bb7986c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976600"/>
            <a:ext cx="9144000" cy="166800"/>
          </a:xfrm>
          <a:prstGeom prst="rect">
            <a:avLst/>
          </a:prstGeom>
          <a:solidFill>
            <a:srgbClr val="0040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luint.io/post/the-hardwired-enterprise-proof-of-concept-framework-land-expand-all-in-one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www.fluint.io/post/the-hardwired-enterprise-proof-of-concept-framework-land-expand-all-in-on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5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1408900"/>
            <a:ext cx="8520600" cy="20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to Design, Deliver &amp; Debrief</a:t>
            </a:r>
            <a:endParaRPr b="1" sz="3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Enterprise POC’s</a:t>
            </a:r>
            <a:endParaRPr b="1" sz="3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0" y="4789800"/>
            <a:ext cx="9144000" cy="353700"/>
          </a:xfrm>
          <a:prstGeom prst="rect">
            <a:avLst/>
          </a:prstGeom>
          <a:solidFill>
            <a:srgbClr val="FEBA48"/>
          </a:solidFill>
          <a:ln cap="flat" cmpd="sng" w="9525">
            <a:solidFill>
              <a:srgbClr val="FEB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155B54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0" y="2878925"/>
            <a:ext cx="987300" cy="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5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125" y="0"/>
            <a:ext cx="8398152" cy="472394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0" y="4789800"/>
            <a:ext cx="9144000" cy="353700"/>
          </a:xfrm>
          <a:prstGeom prst="rect">
            <a:avLst/>
          </a:prstGeom>
          <a:solidFill>
            <a:srgbClr val="FEBA48"/>
          </a:solidFill>
          <a:ln cap="flat" cmpd="sng" w="9525">
            <a:solidFill>
              <a:srgbClr val="FEB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>
                <a:solidFill>
                  <a:srgbClr val="155B54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https://www.fluint.io/post/the-hardwired-enterprise-proof-of-concept-framework-land-expand-all-in-one</a:t>
            </a:r>
            <a:endParaRPr i="1">
              <a:solidFill>
                <a:srgbClr val="155B5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5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1408900"/>
            <a:ext cx="8520600" cy="20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1: POC Design</a:t>
            </a:r>
            <a:endParaRPr b="1" sz="3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0" y="4789800"/>
            <a:ext cx="9144000" cy="353700"/>
          </a:xfrm>
          <a:prstGeom prst="rect">
            <a:avLst/>
          </a:prstGeom>
          <a:solidFill>
            <a:srgbClr val="FEBA48"/>
          </a:solidFill>
          <a:ln cap="flat" cmpd="sng" w="9525">
            <a:solidFill>
              <a:srgbClr val="FEB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155B54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0" y="2283225"/>
            <a:ext cx="987300" cy="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Source of Risk</a:t>
            </a:r>
            <a:endParaRPr b="1"/>
          </a:p>
        </p:txBody>
      </p:sp>
      <p:grpSp>
        <p:nvGrpSpPr>
          <p:cNvPr id="80" name="Google Shape;80;p16"/>
          <p:cNvGrpSpPr/>
          <p:nvPr/>
        </p:nvGrpSpPr>
        <p:grpSpPr>
          <a:xfrm>
            <a:off x="378822" y="2238871"/>
            <a:ext cx="3242621" cy="2617308"/>
            <a:chOff x="3071457" y="2013875"/>
            <a:chExt cx="1944600" cy="1569600"/>
          </a:xfrm>
        </p:grpSpPr>
        <p:sp>
          <p:nvSpPr>
            <p:cNvPr id="81" name="Google Shape;81;p16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3316106" y="2256383"/>
              <a:ext cx="14517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QUESTION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3316106" y="2575335"/>
              <a:ext cx="1451700" cy="7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What’s your one question?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do you need to learn together?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" name="Google Shape;84;p16"/>
          <p:cNvGrpSpPr/>
          <p:nvPr/>
        </p:nvGrpSpPr>
        <p:grpSpPr>
          <a:xfrm>
            <a:off x="3759448" y="2238871"/>
            <a:ext cx="5004501" cy="2617308"/>
            <a:chOff x="5015938" y="2013875"/>
            <a:chExt cx="3001200" cy="1569600"/>
          </a:xfrm>
        </p:grpSpPr>
        <p:sp>
          <p:nvSpPr>
            <p:cNvPr id="85" name="Google Shape;85;p16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ASSUMPTIONS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5360232" y="2575326"/>
              <a:ext cx="24171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do we already know? 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blind spots do we have?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3459254" y="3385196"/>
            <a:ext cx="436183" cy="434196"/>
            <a:chOff x="4858109" y="2631368"/>
            <a:chExt cx="316442" cy="315000"/>
          </a:xfrm>
        </p:grpSpPr>
        <p:sp>
          <p:nvSpPr>
            <p:cNvPr id="89" name="Google Shape;89;p16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311777" y="3385198"/>
            <a:ext cx="434179" cy="434179"/>
            <a:chOff x="3157188" y="909150"/>
            <a:chExt cx="470400" cy="470400"/>
          </a:xfrm>
        </p:grpSpPr>
        <p:sp>
          <p:nvSpPr>
            <p:cNvPr id="92" name="Google Shape;92;p16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307B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30250" y="1064425"/>
            <a:ext cx="36480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Questions: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What’s the most significant, unanswered question that your buyer </a:t>
            </a:r>
            <a:b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has about how you can create new value together? </a:t>
            </a:r>
            <a:r>
              <a:rPr i="1"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Choose only one question.</a:t>
            </a:r>
            <a:endParaRPr i="1" sz="1200"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759400" y="1045550"/>
            <a:ext cx="50046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Assumptions: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What information does your buyer already have about this question? What assumptions are you making? What blind spots do you have?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</a:t>
            </a:r>
            <a:endParaRPr b="1"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75000" y="1170125"/>
            <a:ext cx="2531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Identify the data that would help you answer that single question. </a:t>
            </a:r>
            <a:endParaRPr i="1" sz="1100"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429150" y="1937450"/>
            <a:ext cx="50046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Assumptions: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What information does your corporate partner already have about this question? What assumptions are you making? What blindspots do you have?</a:t>
            </a:r>
            <a:endParaRPr sz="1200"/>
          </a:p>
        </p:txBody>
      </p:sp>
      <p:grpSp>
        <p:nvGrpSpPr>
          <p:cNvPr id="103" name="Google Shape;103;p17"/>
          <p:cNvGrpSpPr/>
          <p:nvPr/>
        </p:nvGrpSpPr>
        <p:grpSpPr>
          <a:xfrm>
            <a:off x="2809951" y="2015784"/>
            <a:ext cx="2437945" cy="2678365"/>
            <a:chOff x="3071457" y="2013875"/>
            <a:chExt cx="1944600" cy="1569600"/>
          </a:xfrm>
        </p:grpSpPr>
        <p:sp>
          <p:nvSpPr>
            <p:cNvPr id="104" name="Google Shape;104;p17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3316102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PREDICTION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p17"/>
            <p:cNvSpPr txBox="1"/>
            <p:nvPr/>
          </p:nvSpPr>
          <p:spPr>
            <a:xfrm>
              <a:off x="3316092" y="2593555"/>
              <a:ext cx="14517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Is our prediction falsifiable and specific enough to test?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7" name="Google Shape;107;p17"/>
          <p:cNvGrpSpPr/>
          <p:nvPr/>
        </p:nvGrpSpPr>
        <p:grpSpPr>
          <a:xfrm>
            <a:off x="374999" y="2015784"/>
            <a:ext cx="2437945" cy="2678365"/>
            <a:chOff x="1126863" y="2013875"/>
            <a:chExt cx="1944600" cy="1569600"/>
          </a:xfrm>
        </p:grpSpPr>
        <p:sp>
          <p:nvSpPr>
            <p:cNvPr id="108" name="Google Shape;108;p17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1351618" y="2256384"/>
              <a:ext cx="1451700" cy="1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1351618" y="2551115"/>
              <a:ext cx="1451700" cy="8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Which data sources will you draw on? How will you access them?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Is the dataset complete? Or will you use a sandbox environment?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5244761" y="2015784"/>
            <a:ext cx="3762604" cy="2678365"/>
            <a:chOff x="5015938" y="2013875"/>
            <a:chExt cx="3001200" cy="1569600"/>
          </a:xfrm>
        </p:grpSpPr>
        <p:sp>
          <p:nvSpPr>
            <p:cNvPr id="112" name="Google Shape;112;p17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155B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FAIL CONDITION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>
              <a:off x="5360229" y="2590390"/>
              <a:ext cx="2417100" cy="7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outcome would sufficiently invalidate our belief?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outcome would  tell us that we should pivot or adjust our hypothesis, vs. scrap the project altogether? 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5042616" y="3188298"/>
            <a:ext cx="322739" cy="332955"/>
            <a:chOff x="4858109" y="2631368"/>
            <a:chExt cx="316442" cy="315000"/>
          </a:xfrm>
        </p:grpSpPr>
        <p:sp>
          <p:nvSpPr>
            <p:cNvPr id="116" name="Google Shape;116;p17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2652614" y="3188432"/>
            <a:ext cx="321283" cy="332949"/>
            <a:chOff x="3157188" y="909150"/>
            <a:chExt cx="470400" cy="470400"/>
          </a:xfrm>
        </p:grpSpPr>
        <p:sp>
          <p:nvSpPr>
            <p:cNvPr id="119" name="Google Shape;119;p17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2889150" y="1126250"/>
            <a:ext cx="2531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Prediction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What action will you take, and what do you believe will happen?</a:t>
            </a:r>
            <a:endParaRPr i="1" sz="1100"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5596850" y="1126250"/>
            <a:ext cx="2531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Fail Condition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What would convince us our belief is false?</a:t>
            </a:r>
            <a:endParaRPr i="1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8"/>
          <p:cNvGrpSpPr/>
          <p:nvPr/>
        </p:nvGrpSpPr>
        <p:grpSpPr>
          <a:xfrm>
            <a:off x="2724749" y="2114603"/>
            <a:ext cx="2360744" cy="2571790"/>
            <a:chOff x="3071457" y="2013875"/>
            <a:chExt cx="1944600" cy="1569600"/>
          </a:xfrm>
        </p:grpSpPr>
        <p:sp>
          <p:nvSpPr>
            <p:cNvPr id="128" name="Google Shape;128;p18"/>
            <p:cNvSpPr/>
            <p:nvPr/>
          </p:nvSpPr>
          <p:spPr>
            <a:xfrm flipH="1" rot="10800000">
              <a:off x="3071457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3316102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TIME BOX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3316104" y="2610043"/>
              <a:ext cx="1451700" cy="6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Is the plan timely? Are there enough resources set aside?</a:t>
              </a:r>
              <a:b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b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Can you gather data or execute actions faster?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18"/>
          <p:cNvGrpSpPr/>
          <p:nvPr/>
        </p:nvGrpSpPr>
        <p:grpSpPr>
          <a:xfrm>
            <a:off x="366902" y="2114603"/>
            <a:ext cx="2360744" cy="2571790"/>
            <a:chOff x="1126863" y="2013875"/>
            <a:chExt cx="1944600" cy="1569600"/>
          </a:xfrm>
        </p:grpSpPr>
        <p:sp>
          <p:nvSpPr>
            <p:cNvPr id="132" name="Google Shape;132;p18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1351627" y="2256385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PLAN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1351634" y="2581129"/>
              <a:ext cx="14517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How will you structure and execute your test?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Are the steps specific and achievable?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8"/>
          <p:cNvGrpSpPr/>
          <p:nvPr/>
        </p:nvGrpSpPr>
        <p:grpSpPr>
          <a:xfrm>
            <a:off x="5082458" y="2114603"/>
            <a:ext cx="3643457" cy="2571790"/>
            <a:chOff x="5015938" y="2013875"/>
            <a:chExt cx="3001200" cy="1569600"/>
          </a:xfrm>
        </p:grpSpPr>
        <p:sp>
          <p:nvSpPr>
            <p:cNvPr id="136" name="Google Shape;136;p18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5360226" y="2256387"/>
              <a:ext cx="24171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EARLY STOP CONDITIONS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5360227" y="2624507"/>
              <a:ext cx="2417100" cy="6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early indicators would tell us our plan isn’t going to work and we should adjust course? 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18"/>
          <p:cNvGrpSpPr/>
          <p:nvPr/>
        </p:nvGrpSpPr>
        <p:grpSpPr>
          <a:xfrm>
            <a:off x="4918298" y="3240192"/>
            <a:ext cx="316821" cy="348264"/>
            <a:chOff x="4858109" y="2631368"/>
            <a:chExt cx="316442" cy="315000"/>
          </a:xfrm>
        </p:grpSpPr>
        <p:sp>
          <p:nvSpPr>
            <p:cNvPr id="140" name="Google Shape;140;p18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2571901" y="3240596"/>
            <a:ext cx="315356" cy="348284"/>
            <a:chOff x="3157188" y="909150"/>
            <a:chExt cx="470400" cy="470400"/>
          </a:xfrm>
        </p:grpSpPr>
        <p:sp>
          <p:nvSpPr>
            <p:cNvPr id="143" name="Google Shape;143;p18"/>
            <p:cNvSpPr/>
            <p:nvPr/>
          </p:nvSpPr>
          <p:spPr>
            <a:xfrm>
              <a:off x="3157188" y="909150"/>
              <a:ext cx="470400" cy="470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3243138" y="995100"/>
              <a:ext cx="298500" cy="298500"/>
            </a:xfrm>
            <a:prstGeom prst="mathPlus">
              <a:avLst>
                <a:gd fmla="val 9900" name="adj1"/>
              </a:avLst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Plan</a:t>
            </a:r>
            <a:endParaRPr b="1"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375000" y="1170125"/>
            <a:ext cx="2531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Plan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What is the simplest way you can test your belief and develop data to evaluate?</a:t>
            </a:r>
            <a:endParaRPr i="1" sz="1100"/>
          </a:p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>
            <a:off x="2896700" y="1170125"/>
            <a:ext cx="2531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Timing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Is everyone on the same page about what happens, when?</a:t>
            </a:r>
            <a:endParaRPr i="1" sz="1100"/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5596850" y="1126250"/>
            <a:ext cx="2531100" cy="10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300"/>
              </a:spcAft>
              <a:buNone/>
            </a:pP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Early Stop</a:t>
            </a:r>
            <a:r>
              <a:rPr b="1"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Conditions:</a:t>
            </a:r>
            <a:r>
              <a:rPr lang="en" sz="11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Determine if and when you’d decide to stop your test early.</a:t>
            </a:r>
            <a:endParaRPr i="1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5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311700" y="1408900"/>
            <a:ext cx="8520600" cy="20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2: Deliver</a:t>
            </a:r>
            <a:endParaRPr b="1" sz="3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0" y="4789800"/>
            <a:ext cx="9144000" cy="353700"/>
          </a:xfrm>
          <a:prstGeom prst="rect">
            <a:avLst/>
          </a:prstGeom>
          <a:solidFill>
            <a:srgbClr val="FEBA48"/>
          </a:solidFill>
          <a:ln cap="flat" cmpd="sng" w="9525">
            <a:solidFill>
              <a:srgbClr val="FEB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155B54"/>
              </a:solidFill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0" y="2297750"/>
            <a:ext cx="987300" cy="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Results</a:t>
            </a:r>
            <a:endParaRPr b="1"/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Go run your experiment and begin executing your plan. Then, record the results: </a:t>
            </a:r>
            <a:b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7025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Montserrat"/>
              <a:buChar char="●"/>
            </a:pP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 happened? Anything unexpected?</a:t>
            </a: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70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Montserrat"/>
              <a:buChar char="●"/>
            </a:pP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 conclusions were you able to draw about your key question?</a:t>
            </a: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70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Montserrat"/>
              <a:buChar char="●"/>
            </a:pP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Should you pivot or persevere as your next step?</a:t>
            </a: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70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50"/>
              <a:buFont typeface="Montserrat"/>
              <a:buChar char="●"/>
            </a:pP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Do you need more data, or a new plan?</a:t>
            </a: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 flipH="1" rot="10800000">
            <a:off x="449075" y="1678000"/>
            <a:ext cx="80175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05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1408900"/>
            <a:ext cx="8520600" cy="20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3: Debrief</a:t>
            </a:r>
            <a:endParaRPr b="1" sz="3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0" y="4789800"/>
            <a:ext cx="9144000" cy="353700"/>
          </a:xfrm>
          <a:prstGeom prst="rect">
            <a:avLst/>
          </a:prstGeom>
          <a:solidFill>
            <a:srgbClr val="FEBA48"/>
          </a:solidFill>
          <a:ln cap="flat" cmpd="sng" w="9525">
            <a:solidFill>
              <a:srgbClr val="FEBA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155B54"/>
              </a:solidFill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0" y="2297750"/>
            <a:ext cx="987300" cy="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Readout Framework</a:t>
            </a:r>
            <a:endParaRPr b="1"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302375"/>
            <a:ext cx="8520600" cy="3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Recommendation:</a:t>
            </a: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Since we’ve proven &lt; the main risk &gt;, we should proceed with &lt; expansion &gt;.</a:t>
            </a:r>
            <a:b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Context: </a:t>
            </a: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&lt; problem &gt; has created a significant gap compared to our ideal goal of &lt; payoff &gt;. To address this by &lt; critical event &gt;, we decided the best next step partnering with a &lt; your product category &gt;.</a:t>
            </a:r>
            <a:b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Complication: </a:t>
            </a: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Yet, &lt; key risk &gt; presented a risk to &lt; unique approach &gt;. So we structured &lt; experiment &gt; to prove we could create &lt; proof point &gt;.</a:t>
            </a:r>
            <a:b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Conclusions: </a:t>
            </a:r>
            <a:r>
              <a:rPr lang="en" sz="15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 saw &lt; X — measurable / pass condition &gt;, therefore, we’re confident in continuing to &lt; Y — expansion &gt;.</a:t>
            </a:r>
            <a:endParaRPr sz="15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2"/>
          <p:cNvCxnSpPr/>
          <p:nvPr/>
        </p:nvCxnSpPr>
        <p:spPr>
          <a:xfrm flipH="1" rot="10800000">
            <a:off x="463825" y="1078950"/>
            <a:ext cx="80175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